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7606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You Start an Airbnb?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U.S. Market Guide for New Hosts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findings &amp; recommendations based on 458K+ U.S. listings (2020 &amp; 2023)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0" y="914400"/>
            <a:ext cx="2286000" cy="3108960"/>
          </a:xfrm>
          <a:prstGeom prst="rect">
            <a:avLst/>
          </a:prstGeom>
          <a:solidFill>
            <a:srgbClr val="252540"/>
          </a:solidFill>
          <a:ln w="12700">
            <a:solidFill>
              <a:srgbClr val="2E2E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6583680" y="102412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$239.86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583680" y="159105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 / night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766560" y="1920240"/>
            <a:ext cx="1920240" cy="0"/>
          </a:xfrm>
          <a:prstGeom prst="line">
            <a:avLst/>
          </a:prstGeom>
          <a:noFill/>
          <a:ln w="12700">
            <a:solidFill>
              <a:srgbClr val="2E2E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658368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458.18K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83680" y="25420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active listings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2871216"/>
            <a:ext cx="1920240" cy="0"/>
          </a:xfrm>
          <a:prstGeom prst="line">
            <a:avLst/>
          </a:prstGeom>
          <a:noFill/>
          <a:ln w="12700">
            <a:solidFill>
              <a:srgbClr val="2E2E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6583680" y="29443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188.04K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583680" y="34290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hosts (competition)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AB_US_2023 + AB_US_2020  ·  70% occupancy assumed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52540"/>
          </a:solidFill>
          <a:ln w="12700">
            <a:solidFill>
              <a:srgbClr val="25254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 — THE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U.S. short-term rental market is large, growing, and profitable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1965960" cy="1417320"/>
          </a:xfrm>
          <a:prstGeom prst="rect">
            <a:avLst/>
          </a:prstGeom>
          <a:solidFill>
            <a:srgbClr val="252540"/>
          </a:solidFill>
          <a:ln w="12700">
            <a:solidFill>
              <a:srgbClr val="2E2E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320040" y="155448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$239.86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21488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 / night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44144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cities &amp; years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463040"/>
            <a:ext cx="1965960" cy="1417320"/>
          </a:xfrm>
          <a:prstGeom prst="rect">
            <a:avLst/>
          </a:prstGeom>
          <a:solidFill>
            <a:srgbClr val="252540"/>
          </a:solidFill>
          <a:ln w="12700">
            <a:solidFill>
              <a:srgbClr val="2E2E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2468880" y="155448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458.18K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68880" y="21488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active listings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244144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2020 + 2023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463040"/>
            <a:ext cx="1965960" cy="1417320"/>
          </a:xfrm>
          <a:prstGeom prst="rect">
            <a:avLst/>
          </a:prstGeom>
          <a:solidFill>
            <a:srgbClr val="252540"/>
          </a:solidFill>
          <a:ln w="12700">
            <a:solidFill>
              <a:srgbClr val="2E2E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4617720" y="155448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$5.04K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17720" y="21488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monthly revenue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17720" y="244144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listing @ 70% occ.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1463040"/>
            <a:ext cx="1965960" cy="1417320"/>
          </a:xfrm>
          <a:prstGeom prst="rect">
            <a:avLst/>
          </a:prstGeom>
          <a:solidFill>
            <a:srgbClr val="252540"/>
          </a:solidFill>
          <a:ln w="12700">
            <a:solidFill>
              <a:srgbClr val="2E2E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6766560" y="155448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188.04K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766560" y="21488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hosts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244144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overview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3090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type of listing earns most?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65760" y="3547872"/>
            <a:ext cx="5303520" cy="47548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457200" y="3547872"/>
            <a:ext cx="51937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home/apt  81.42%  ·  $89M total revenue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15000" y="3547872"/>
            <a:ext cx="1508760" cy="47548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5806440" y="3547872"/>
            <a:ext cx="1399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room  16.95%  ·  $19M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269480" y="3547872"/>
            <a:ext cx="320040" cy="47548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Shape 25"/>
          <p:cNvSpPr/>
          <p:nvPr/>
        </p:nvSpPr>
        <p:spPr>
          <a:xfrm>
            <a:off x="7635240" y="3547872"/>
            <a:ext cx="109728" cy="475488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365760" y="41330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home listings capture 81% of total revenue — nearly 5x more than private rooms.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52540"/>
          </a:solidFill>
          <a:ln w="12700">
            <a:solidFill>
              <a:srgbClr val="25254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INSIGHT — READING THE NUMBERS CORRECTLY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hotel rooms look profitable but aren't the right choice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shows hotel rooms with higher avg monthly revenue than entire homes — here's why that number is misleading.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4023360" cy="3154680"/>
          </a:xfrm>
          <a:prstGeom prst="rect">
            <a:avLst/>
          </a:prstGeom>
          <a:solidFill>
            <a:srgbClr val="252540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4023360" cy="45720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room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~$9,500/mo avg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67919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inflated by luxury boutique hotels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98094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fraction of total listings (&lt;1%)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23697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 skewed by high-end hotel properties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49300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 licensed hospitality property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74904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accessible to a typical new host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400507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barrier to entry — major capital needed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4617720"/>
            <a:ext cx="4023360" cy="32004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457200" y="4617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average, low opportunity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1783080"/>
            <a:ext cx="4023360" cy="3154680"/>
          </a:xfrm>
          <a:prstGeom prst="rect">
            <a:avLst/>
          </a:prstGeom>
          <a:solidFill>
            <a:srgbClr val="252540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4800600" y="1783080"/>
            <a:ext cx="4023360" cy="45720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4937760" y="1783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home/apt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37760" y="23317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~$5,040/mo avg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37760" y="267919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&amp; achievable for any homeowner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298094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81.42% of total revenue in the dataset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323697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homeowner or renter can list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349300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demand across all cities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374904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with your existing property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400507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path to $40K–$65K net annual income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4617720"/>
            <a:ext cx="4023360" cy="3200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4892040" y="4617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realistic choice for new hosts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52540"/>
          </a:solidFill>
          <a:ln w="12700">
            <a:solidFill>
              <a:srgbClr val="25254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 — THE REAL NUMBERS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keep after costs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 is only half the story. Here's the full picture every new host needs to understand.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3977640" cy="3127248"/>
          </a:xfrm>
          <a:prstGeom prst="rect">
            <a:avLst/>
          </a:prstGeom>
          <a:solidFill>
            <a:srgbClr val="252540"/>
          </a:solidFill>
          <a:ln w="12700">
            <a:solidFill>
              <a:srgbClr val="2E2E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P&amp;L — ENTIRE HOME (U.S. AVG)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2084832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$239.86 avg price · 70% occupancy · 21 nights/mo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670048"/>
            <a:ext cx="3703320" cy="0"/>
          </a:xfrm>
          <a:prstGeom prst="line">
            <a:avLst/>
          </a:prstGeom>
          <a:noFill/>
          <a:ln w="6350">
            <a:solidFill>
              <a:srgbClr val="2E2E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502920" y="239572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  (21 × $239.86)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08960" y="23957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+$5,037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980944"/>
            <a:ext cx="3703320" cy="0"/>
          </a:xfrm>
          <a:prstGeom prst="line">
            <a:avLst/>
          </a:prstGeom>
          <a:noFill/>
          <a:ln w="6350">
            <a:solidFill>
              <a:srgbClr val="2E2E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502920" y="270662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host fee (3%)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08960" y="270662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−$151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291840"/>
            <a:ext cx="3703320" cy="0"/>
          </a:xfrm>
          <a:prstGeom prst="line">
            <a:avLst/>
          </a:prstGeom>
          <a:noFill/>
          <a:ln w="6350">
            <a:solidFill>
              <a:srgbClr val="2E2E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502920" y="301752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(~$15/turnover × 21)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08960" y="30175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−$315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602736"/>
            <a:ext cx="3703320" cy="0"/>
          </a:xfrm>
          <a:prstGeom prst="line">
            <a:avLst/>
          </a:prstGeom>
          <a:noFill/>
          <a:ln w="6350">
            <a:solidFill>
              <a:srgbClr val="2E2E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502920" y="3328416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 &amp; supplies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108960" y="33284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−$150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913632"/>
            <a:ext cx="3703320" cy="0"/>
          </a:xfrm>
          <a:prstGeom prst="line">
            <a:avLst/>
          </a:prstGeom>
          <a:noFill/>
          <a:ln w="6350">
            <a:solidFill>
              <a:srgbClr val="2E2E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502920" y="363931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reserve (2% of gross)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108960" y="36393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−$101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4224528"/>
            <a:ext cx="3703320" cy="0"/>
          </a:xfrm>
          <a:prstGeom prst="line">
            <a:avLst/>
          </a:prstGeom>
          <a:noFill/>
          <a:ln w="6350">
            <a:solidFill>
              <a:srgbClr val="2E2E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502920" y="395020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rental insurance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108960" y="3950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−$100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498848"/>
            <a:ext cx="3977640" cy="347472"/>
          </a:xfrm>
          <a:prstGeom prst="rect">
            <a:avLst/>
          </a:prstGeom>
          <a:solidFill>
            <a:srgbClr val="0F3460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502920" y="44988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net monthly profit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43200" y="449884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~$4,220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4800600" y="1719072"/>
            <a:ext cx="3977640" cy="3127248"/>
          </a:xfrm>
          <a:prstGeom prst="rect">
            <a:avLst/>
          </a:prstGeom>
          <a:solidFill>
            <a:srgbClr val="252540"/>
          </a:solidFill>
          <a:ln w="12700">
            <a:solidFill>
              <a:srgbClr val="2E2E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4937760" y="1810512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NEW HOSTS OFTEN MISS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37760" y="2148840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costs compound quickly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37760" y="2404872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turnovers/month at $15–30 each = $315–$630. Many hosts underprice and lose their margin here.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0" y="2807208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reserve is non-negotiable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37760" y="3063240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AirCover helps but won't cover everything. Set aside 2–3% of gross monthly for repairs and deep cleans.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37760" y="346557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STR regulations first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37760" y="3721608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cities require permits and cap rental days. Always check local rules before investing in a property.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37760" y="4123944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20–25% for income tax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37760" y="4379976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remits occupancy tax but net rental profit is still taxable income you must account for.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52540"/>
          </a:solidFill>
          <a:ln w="12700">
            <a:solidFill>
              <a:srgbClr val="25254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 — WHERE TO INVEST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price ≠ high returns. Demand matters more.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cities tell the whole story — price alone does not predict returns.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2560320" cy="237744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price, low demand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08960" y="1664208"/>
            <a:ext cx="2560320" cy="237744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3108960" y="166420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demand, low price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852160" y="1664208"/>
            <a:ext cx="2926080" cy="23774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5852160" y="1664208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 — price + demand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0116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37360" y="20116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 / night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20116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reviews / listing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0" y="20116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359152"/>
            <a:ext cx="8412480" cy="0"/>
          </a:xfrm>
          <a:prstGeom prst="line">
            <a:avLst/>
          </a:prstGeom>
          <a:noFill/>
          <a:ln w="6350">
            <a:solidFill>
              <a:srgbClr val="2E2E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365760" y="240487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City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737360" y="2478024"/>
            <a:ext cx="1273723" cy="18288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3029371" y="2404872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2478024"/>
            <a:ext cx="585216" cy="18288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5175504" y="24048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0" y="240487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demand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2798064"/>
            <a:ext cx="8412480" cy="0"/>
          </a:xfrm>
          <a:prstGeom prst="line">
            <a:avLst/>
          </a:prstGeom>
          <a:noFill/>
          <a:ln w="6350">
            <a:solidFill>
              <a:srgbClr val="2E2E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365760" y="284378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Angeles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737360" y="2916936"/>
            <a:ext cx="1883518" cy="18288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3639166" y="2843784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$257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2916936"/>
            <a:ext cx="965606" cy="18288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5555894" y="284378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0" y="284378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demand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236976"/>
            <a:ext cx="8412480" cy="0"/>
          </a:xfrm>
          <a:prstGeom prst="line">
            <a:avLst/>
          </a:prstGeom>
          <a:noFill/>
          <a:ln w="6350">
            <a:solidFill>
              <a:srgbClr val="2E2E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365760" y="328269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Portland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737360" y="3355848"/>
            <a:ext cx="1004670" cy="18288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Text 31"/>
          <p:cNvSpPr/>
          <p:nvPr/>
        </p:nvSpPr>
        <p:spPr>
          <a:xfrm>
            <a:off x="2760318" y="3282696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$137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3355848"/>
            <a:ext cx="2194560" cy="18288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5" name="Text 33"/>
          <p:cNvSpPr/>
          <p:nvPr/>
        </p:nvSpPr>
        <p:spPr>
          <a:xfrm>
            <a:off x="6784848" y="328269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15200" y="328269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price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3675888"/>
            <a:ext cx="8412480" cy="0"/>
          </a:xfrm>
          <a:prstGeom prst="line">
            <a:avLst/>
          </a:prstGeom>
          <a:noFill/>
          <a:ln w="6350">
            <a:solidFill>
              <a:srgbClr val="2E2E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8" name="Text 36"/>
          <p:cNvSpPr/>
          <p:nvPr/>
        </p:nvSpPr>
        <p:spPr>
          <a:xfrm>
            <a:off x="365760" y="372160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Nashville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737360" y="3794760"/>
            <a:ext cx="1859158" cy="1828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0" name="Text 38"/>
          <p:cNvSpPr/>
          <p:nvPr/>
        </p:nvSpPr>
        <p:spPr>
          <a:xfrm>
            <a:off x="3614806" y="372160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$254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0" y="3794760"/>
            <a:ext cx="1697126" cy="1828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2" name="Text 40"/>
          <p:cNvSpPr/>
          <p:nvPr/>
        </p:nvSpPr>
        <p:spPr>
          <a:xfrm>
            <a:off x="6287414" y="372160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315200" y="372160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4114800"/>
            <a:ext cx="8412480" cy="0"/>
          </a:xfrm>
          <a:prstGeom prst="line">
            <a:avLst/>
          </a:prstGeom>
          <a:noFill/>
          <a:ln w="6350">
            <a:solidFill>
              <a:srgbClr val="2E2E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5" name="Text 43"/>
          <p:cNvSpPr/>
          <p:nvPr/>
        </p:nvSpPr>
        <p:spPr>
          <a:xfrm>
            <a:off x="365760" y="41605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Orleans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737360" y="4233672"/>
            <a:ext cx="1626315" cy="1828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7" name="Text 45"/>
          <p:cNvSpPr/>
          <p:nvPr/>
        </p:nvSpPr>
        <p:spPr>
          <a:xfrm>
            <a:off x="3381963" y="416052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$222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0" y="4233672"/>
            <a:ext cx="1316736" cy="1828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9" name="Text 47"/>
          <p:cNvSpPr/>
          <p:nvPr/>
        </p:nvSpPr>
        <p:spPr>
          <a:xfrm>
            <a:off x="5907024" y="416052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315200" y="41605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65760" y="4645152"/>
            <a:ext cx="8412480" cy="329184"/>
          </a:xfrm>
          <a:prstGeom prst="rect">
            <a:avLst/>
          </a:prstGeom>
          <a:solidFill>
            <a:srgbClr val="0F3460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2" name="Text 50"/>
          <p:cNvSpPr/>
          <p:nvPr/>
        </p:nvSpPr>
        <p:spPr>
          <a:xfrm>
            <a:off x="457200" y="464515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Nashville and New Orleans hit the sweet spot — strong nightly rates AND proven demand. NYC and LA look attractive on price but the data shows far fewer bookings per listing.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52540"/>
          </a:solidFill>
          <a:ln w="12700">
            <a:solidFill>
              <a:srgbClr val="25254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 — OUR RECOMMENDATION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in Nashville or New Orleans.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35331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why they beat the obvious choices — straight from your dashboard data.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810512"/>
            <a:ext cx="4041648" cy="3218688"/>
          </a:xfrm>
          <a:prstGeom prst="rect">
            <a:avLst/>
          </a:prstGeom>
          <a:solidFill>
            <a:srgbClr val="252540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320040" y="1810512"/>
            <a:ext cx="4041648" cy="47548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457200" y="181051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Nashville, TN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$5.34K/mo gross  ·  ~$4,080 net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76148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$254.15 avg nightly rate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14.69K total listings in market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27355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avg reviews / listing (strong demand)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52958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4,928 hosts — lower competition ratio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822192"/>
            <a:ext cx="3749040" cy="0"/>
          </a:xfrm>
          <a:prstGeom prst="line">
            <a:avLst/>
          </a:prstGeom>
          <a:noFill/>
          <a:ln w="6350">
            <a:solidFill>
              <a:srgbClr val="2E2E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457200" y="387705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pricing comparable to coastal cities but with far fewer hosts competing per listing. Strong tourism and growing tech sector drive consistent year-round demand.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617720"/>
            <a:ext cx="3749040" cy="274320"/>
          </a:xfrm>
          <a:prstGeom prst="rect">
            <a:avLst/>
          </a:prstGeom>
          <a:solidFill>
            <a:srgbClr val="0F3460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457200" y="4617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~$48,960 est. net annual income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810512"/>
            <a:ext cx="4041648" cy="3218688"/>
          </a:xfrm>
          <a:prstGeom prst="rect">
            <a:avLst/>
          </a:prstGeom>
          <a:solidFill>
            <a:srgbClr val="252540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4754880" y="1810512"/>
            <a:ext cx="4041648" cy="47548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4892040" y="181051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Orleans, LA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92040" y="237744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$4.67K/mo gross  ·  ~$3,570 net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276148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$222.32 avg nightly rate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301752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13.46K total listings in market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327355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avg reviews / listing (solid demand)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352958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4,792 hosts — manageable competition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3822192"/>
            <a:ext cx="3749040" cy="0"/>
          </a:xfrm>
          <a:prstGeom prst="line">
            <a:avLst/>
          </a:prstGeom>
          <a:noFill/>
          <a:ln w="6350">
            <a:solidFill>
              <a:srgbClr val="2E2E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4892040" y="387705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World-famous tourism, festivals, and food culture drive year-round bookings. Lower avg price than Nashville but strong occupancy rates make it a reliable entry market.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92040" y="4617720"/>
            <a:ext cx="3749040" cy="274320"/>
          </a:xfrm>
          <a:prstGeom prst="rect">
            <a:avLst/>
          </a:prstGeom>
          <a:solidFill>
            <a:srgbClr val="0F3460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4892040" y="4617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~$42,840 est. net annual income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52540"/>
          </a:solidFill>
          <a:ln w="12700">
            <a:solidFill>
              <a:srgbClr val="25254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365760" y="4956048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estimates deduct host fee, cleaning, utilities, damage reserve &amp; insurance are simulated using </a:t>
            </a:r>
            <a:r>
              <a:rPr lang="en-US" sz="800" dirty="0" err="1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867</Words>
  <Application>Microsoft Office PowerPoint</Application>
  <PresentationFormat>On-screen Show (16:9)</PresentationFormat>
  <Paragraphs>134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U.S. Airbnb Market Analysis for New Hosts</dc:title>
  <dc:subject>PptxGenJS Presentation</dc:subject>
  <dc:creator>PptxGenJS</dc:creator>
  <cp:lastModifiedBy>Godwin Okubanjo</cp:lastModifiedBy>
  <cp:revision>3</cp:revision>
  <dcterms:created xsi:type="dcterms:W3CDTF">2026-03-20T02:44:16Z</dcterms:created>
  <dcterms:modified xsi:type="dcterms:W3CDTF">2026-03-20T03:56:41Z</dcterms:modified>
</cp:coreProperties>
</file>